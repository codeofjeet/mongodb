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17" r:id="rId5"/>
    <p:sldId id="318" r:id="rId6"/>
    <p:sldId id="308" r:id="rId7"/>
    <p:sldId id="307" r:id="rId8"/>
    <p:sldId id="309" r:id="rId9"/>
    <p:sldId id="320" r:id="rId10"/>
    <p:sldId id="319" r:id="rId11"/>
    <p:sldId id="321" r:id="rId12"/>
    <p:sldId id="278" r:id="rId13"/>
    <p:sldId id="263" r:id="rId14"/>
    <p:sldId id="310" r:id="rId15"/>
    <p:sldId id="311" r:id="rId16"/>
    <p:sldId id="312" r:id="rId17"/>
    <p:sldId id="316" r:id="rId18"/>
    <p:sldId id="314" r:id="rId19"/>
    <p:sldId id="315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094" autoAdjust="0"/>
    <p:restoredTop sz="95405" autoAdjust="0"/>
  </p:normalViewPr>
  <p:slideViewPr>
    <p:cSldViewPr snapToGrid="0">
      <p:cViewPr>
        <p:scale>
          <a:sx n="66" d="100"/>
          <a:sy n="66" d="100"/>
        </p:scale>
        <p:origin x="-648" y="-108"/>
      </p:cViewPr>
      <p:guideLst>
        <p:guide orient="horz" pos="528"/>
        <p:guide orient="horz" pos="1272"/>
        <p:guide orient="horz" pos="2312"/>
        <p:guide orient="horz" pos="1944"/>
        <p:guide orient="horz" pos="2328"/>
        <p:guide pos="3864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pPr/>
              <a:t>4/4/2025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75031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46754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8736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47372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473721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674091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08133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1026281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210893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3472499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209986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332748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4D792B1F-855B-FC83-1023-94C0976E98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EF359D7C-AC03-77FE-CA1D-B96B46B08D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C9AA487F-3729-4692-1A21-35558A2D84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84B8E19A-569B-855B-EBF8-C02F2998A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=""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941984E2-3225-05D3-3A3D-9D5F5840ED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070813B7-403A-9A3E-5E5C-44C1680DE4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7A7BB3C1-4B05-D5B3-C61C-1CD390CEEF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CE6955A7-F39A-1FBB-FF32-C6F0E3289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5ED90D1-D640-D115-6711-35DE812FC0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8D9EAE4-01F5-6C99-C91E-BF0FD0CD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=""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D24A04BE-9BA3-80DD-EE68-A8B8BA0853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="" xmlns:a16="http://schemas.microsoft.com/office/drawing/2014/main" id="{9E4F6A04-3331-D4C7-3EAE-0F69B48A7C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587ACFB-02E0-79F1-D5B0-E8B18598D6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8639877-C4A6-4E44-C600-FE3C6CD5F1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F0439AA5-A7EE-A20E-BB67-D356776D0B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39E752F7-61F0-6779-9E8E-3541BFF7D2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6FD0E545-8D0D-B848-836A-23CEBCD6B0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7114E853-6F7C-9899-77FD-0E77D0A862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69002426-033B-400A-C519-AF4C659C4F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="" xmlns:a16="http://schemas.microsoft.com/office/drawing/2014/main" id="{90FA743D-BDB5-4069-7325-E91CA7BC3E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2FE03F25-D589-68A8-30C7-175547B6A9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7CB19B63-2AAF-E86D-D7F1-B659DB36B5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83712F38-4391-A499-56E2-8F095A50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=""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=""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="" xmlns:a16="http://schemas.microsoft.com/office/drawing/2014/main" id="{A3F1B258-8FBC-06A8-3A1F-466CEEDBBE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8BAD4AF0-64CE-5C0E-5440-00F8FC6B31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7DCD020E-88CF-303D-F947-8EE980AC80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EB31668E-263B-8FB1-9DBB-25F22BB441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0972DA96-A413-EF87-50D3-D8EF54FD9F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="" xmlns:a16="http://schemas.microsoft.com/office/drawing/2014/main" id="{4A781A8E-199F-1F48-C80E-B6501B5633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1C6679A-1B60-DCCD-7295-255649B92C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="" xmlns:a16="http://schemas.microsoft.com/office/drawing/2014/main" id="{1C466053-4CA7-4CBB-C1D2-19FE899BED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1100480F-88D3-CF82-FAF8-9527C86BCA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=""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05A86D8-26B0-1ADB-0CE2-B445D2A286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33A68E8B-64DF-46D3-2FA2-4BBBBF8BFB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=""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=""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=""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CADEA8BB-3550-ABDA-99A6-455084D5D4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F0A8F0DB-3D3D-DC0F-84AC-4386B58AD6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=""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=""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=""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686C03E6-655F-A394-4461-7BC878C418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BF7A62BA-11D3-585A-8CBD-5E0FB4DE52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8E1AE81E-772F-B009-AF15-C0FC060518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=""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CC72F6-C144-5508-40C5-E1B3FC085B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FF76D2EA-2C6E-B0B2-DC0D-F9EF636E58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90315871-F40F-D512-8E3F-B40F36BD422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10C11C1A-EFCF-278A-D083-93F07D4DEA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13438" y="740230"/>
            <a:ext cx="7649029" cy="830997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What is the backend?</a:t>
            </a:r>
            <a:endParaRPr lang="en-US" sz="4800" dirty="0">
              <a:latin typeface="Cooper Black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9266" y="1843316"/>
            <a:ext cx="10537372" cy="42473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The "backend" in web development refers to the server-side logic, databases, and APIs that power a website or application, handling data storage, processing, and communication behind the scenes, which users don't directly interact with. The back-end, or server-side, of a website or application handles the logic, data storage, and processing that users don't directly interact with, like managing user accounts, processing payments, or updating databases.  The back-end is the code that runs on the server, that receives requests from the clients, and contains the logic to send the appropriate data back to the client. The back-end also includes the database, which will persistently store all of the data for the application.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3257" y="1335304"/>
            <a:ext cx="7649029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What is the workflow of backend?</a:t>
            </a:r>
            <a:endParaRPr lang="en-US" sz="4800" dirty="0">
              <a:latin typeface="Cooper Black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352" y="3512451"/>
            <a:ext cx="10537372" cy="1420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The backend workflow involves a developer understanding project requirements, designing systems, writing code, testing, deploying, and maintaining applications, all while ensuring data security and efficient performance. 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3816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GitHub - besthor/alx-backend: A Comprehensive collection of backend  development projects and exercises created for the ALX Software Engineering  progra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581" y="275772"/>
            <a:ext cx="6315075" cy="6219826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923313" y="1930380"/>
            <a:ext cx="5123544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What are the responsibilities of backend developer?</a:t>
            </a:r>
            <a:endParaRPr lang="en-US" sz="4800" dirty="0">
              <a:latin typeface="Cooper Black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94971" y="1161126"/>
            <a:ext cx="8665031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Which technologies and databases are used in the backend?</a:t>
            </a:r>
            <a:endParaRPr lang="en-US" sz="4800" dirty="0">
              <a:latin typeface="Cooper Black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1367" y="3802731"/>
            <a:ext cx="7852238" cy="19389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Backend development utilizes various technologies and databases, including programming languages like Python, Java, and Node.js, frameworks such as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Django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Express.js, and databases like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MySQL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PostgreSQL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MongoDB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 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647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/>
          <a:srcRect l="7647" t="9817" r="7809" b="4885"/>
          <a:stretch>
            <a:fillRect/>
          </a:stretch>
        </p:blipFill>
        <p:spPr bwMode="auto">
          <a:xfrm>
            <a:off x="2656116" y="696683"/>
            <a:ext cx="6720114" cy="5675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50" name="AutoShape 2" descr="What Are Backend Technologies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9700" y="885372"/>
            <a:ext cx="9372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96691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=""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6874925" y="-43542"/>
            <a:ext cx="5317076" cy="5993049"/>
          </a:xfrm>
        </p:spPr>
      </p:pic>
      <p:sp>
        <p:nvSpPr>
          <p:cNvPr id="7" name="TextBox 6"/>
          <p:cNvSpPr txBox="1"/>
          <p:nvPr/>
        </p:nvSpPr>
        <p:spPr>
          <a:xfrm>
            <a:off x="297540" y="595069"/>
            <a:ext cx="6284686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Cooper Black" pitchFamily="18" charset="0"/>
              </a:rPr>
              <a:t>Introduction to Node.js</a:t>
            </a:r>
            <a:endParaRPr lang="en-US" sz="4800" dirty="0">
              <a:latin typeface="Cooper Black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738" y="2481932"/>
            <a:ext cx="6386290" cy="37856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Node.js is a JavaScript runtime environment that allows developers to create web applications and servers outside of a browser. It's open-source, cross-platform, and free to use. </a:t>
            </a:r>
            <a:r>
              <a:rPr lang="en-US" sz="2000" dirty="0" smtClean="0"/>
              <a:t>Node.js is an open-source and cross-platform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 runtime environment. It is a popular tool for almost any kind of project. Node.js runs the V8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 engine, the core of Google Chrome, outside of the browser.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232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=""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</p:spTree>
    <p:extLst>
      <p:ext uri="{BB962C8B-B14F-4D97-AF65-F5344CB8AC3E}">
        <p14:creationId xmlns="" xmlns:p14="http://schemas.microsoft.com/office/powerpoint/2010/main" val="222232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/>
          <a:p>
            <a:r>
              <a:rPr lang="en-US"/>
              <a:t>overcoming nervousness</a:t>
            </a:r>
            <a:endParaRPr lang="en-US" dirty="0"/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=""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27204" y="4681728"/>
            <a:ext cx="5449824" cy="128016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="" xmlns:p14="http://schemas.microsoft.com/office/powerpoint/2010/main" val="52000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=""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selecting visual aids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09671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effective delivery techniques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=""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3010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navigating q&amp;a sessions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=""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=""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4834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=""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="" xmlns:p14="http://schemas.microsoft.com/office/powerpoint/2010/main" val="859909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=""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=""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="" xmlns:p14="http://schemas.microsoft.com/office/powerpoint/2010/main" val="1332799362"/>
              </p:ext>
            </p:extLst>
          </p:nvPr>
        </p:nvGraphicFramePr>
        <p:xfrm>
          <a:off x="4097338" y="2038350"/>
          <a:ext cx="7180262" cy="41514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383731">
                  <a:extLst>
                    <a:ext uri="{9D8B030D-6E8A-4147-A177-3AD203B41FA5}">
                      <a16:colId xmlns="" xmlns:a16="http://schemas.microsoft.com/office/drawing/2014/main" val="1689330750"/>
                    </a:ext>
                  </a:extLst>
                </a:gridCol>
                <a:gridCol w="2077175">
                  <a:extLst>
                    <a:ext uri="{9D8B030D-6E8A-4147-A177-3AD203B41FA5}">
                      <a16:colId xmlns="" xmlns:a16="http://schemas.microsoft.com/office/drawing/2014/main" val="2660631934"/>
                    </a:ext>
                  </a:extLst>
                </a:gridCol>
                <a:gridCol w="1359678">
                  <a:extLst>
                    <a:ext uri="{9D8B030D-6E8A-4147-A177-3AD203B41FA5}">
                      <a16:colId xmlns="" xmlns:a16="http://schemas.microsoft.com/office/drawing/2014/main" val="3909717689"/>
                    </a:ext>
                  </a:extLst>
                </a:gridCol>
                <a:gridCol w="1359678">
                  <a:extLst>
                    <a:ext uri="{9D8B030D-6E8A-4147-A177-3AD203B41FA5}">
                      <a16:colId xmlns=""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34243071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5808797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150194648"/>
                  </a:ext>
                </a:extLst>
              </a:tr>
              <a:tr h="812163">
                <a:tc>
                  <a:txBody>
                    <a:bodyPr/>
                    <a:lstStyle/>
                    <a:p>
                      <a:r>
                        <a:rPr lang="en-US" sz="2000" b="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3780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=""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final tips &amp;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3214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=""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="" xmlns:a16="http://schemas.microsoft.com/office/drawing/2014/main" id="{5B6855E3-2188-20C8-4DD6-E45BC792C9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="" xmlns:p14="http://schemas.microsoft.com/office/powerpoint/2010/main" val="1736418874"/>
              </p:ext>
            </p:extLst>
          </p:nvPr>
        </p:nvGraphicFramePr>
        <p:xfrm>
          <a:off x="914400" y="2038350"/>
          <a:ext cx="10515598" cy="390253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48095">
                  <a:extLst>
                    <a:ext uri="{9D8B030D-6E8A-4147-A177-3AD203B41FA5}">
                      <a16:colId xmlns="" xmlns:a16="http://schemas.microsoft.com/office/drawing/2014/main" val="1689330750"/>
                    </a:ext>
                  </a:extLst>
                </a:gridCol>
                <a:gridCol w="3548095">
                  <a:extLst>
                    <a:ext uri="{9D8B030D-6E8A-4147-A177-3AD203B41FA5}">
                      <a16:colId xmlns="" xmlns:a16="http://schemas.microsoft.com/office/drawing/2014/main" val="2660631934"/>
                    </a:ext>
                  </a:extLst>
                </a:gridCol>
                <a:gridCol w="1709704">
                  <a:extLst>
                    <a:ext uri="{9D8B030D-6E8A-4147-A177-3AD203B41FA5}">
                      <a16:colId xmlns="" xmlns:a16="http://schemas.microsoft.com/office/drawing/2014/main" val="3909717689"/>
                    </a:ext>
                  </a:extLst>
                </a:gridCol>
                <a:gridCol w="1709704">
                  <a:extLst>
                    <a:ext uri="{9D8B030D-6E8A-4147-A177-3AD203B41FA5}">
                      <a16:colId xmlns="" xmlns:a16="http://schemas.microsoft.com/office/drawing/2014/main" val="1603189107"/>
                    </a:ext>
                  </a:extLst>
                </a:gridCol>
              </a:tblGrid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7992871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6020865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634243071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580879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150194648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64996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pPr lvl="1"/>
            <a:r>
              <a:rPr lang="en-US" dirty="0"/>
              <a:t>brita@firstupconsultants.com</a:t>
            </a:r>
          </a:p>
          <a:p>
            <a:pPr lvl="1"/>
            <a:r>
              <a:rPr lang="en-US" dirty="0"/>
              <a:t>www.firstupconsultants.com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398</Words>
  <Application>Microsoft Office PowerPoint</Application>
  <PresentationFormat>Custom</PresentationFormat>
  <Paragraphs>130</Paragraphs>
  <Slides>17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Custom</vt:lpstr>
      <vt:lpstr>Slide 1</vt:lpstr>
      <vt:lpstr>Slide 2</vt:lpstr>
      <vt:lpstr>Slide 3</vt:lpstr>
      <vt:lpstr>Slide 4</vt:lpstr>
      <vt:lpstr>Slide 5</vt:lpstr>
      <vt:lpstr>Slide 6</vt:lpstr>
      <vt:lpstr>Slide 7</vt:lpstr>
      <vt:lpstr>the power of communication</vt:lpstr>
      <vt:lpstr>overcoming nervousness</vt:lpstr>
      <vt:lpstr>selecting visual aids</vt:lpstr>
      <vt:lpstr>effective delivery techniques</vt:lpstr>
      <vt:lpstr>navigating q&amp;a sessions</vt:lpstr>
      <vt:lpstr>speaking impact</vt:lpstr>
      <vt:lpstr>speaking impact </vt:lpstr>
      <vt:lpstr>final tips &amp; takeaways</vt:lpstr>
      <vt:lpstr>speaking engagement metrics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2023-12-12T20:05:16Z</dcterms:created>
  <dcterms:modified xsi:type="dcterms:W3CDTF">2025-04-04T15:40:56Z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